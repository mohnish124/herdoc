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erDoc backend" id="{38eaf869-0f78-8564-343d-13ec3524aa5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HerDoc Backend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Kubernetes deployment and monitoring</a:t>
            </a:r>
            <a:endParaRPr lang="en-US" sz="2000" dirty="0"/>
          </a:p>
        </p:txBody>
      </p:sp>
      <p:sp>
        <p:nvSpPr>
          <p:cNvPr id="4" name="Motif circle"/>
          <p:cNvSpPr/>
          <p:nvPr/>
        </p:nvSpPr>
        <p:spPr>
          <a:xfrm>
            <a:off x="6949440" y="3566160"/>
            <a:ext cx="1097280" cy="10972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Motif circle 2"/>
          <p:cNvSpPr/>
          <p:nvPr/>
        </p:nvSpPr>
        <p:spPr>
          <a:xfrm>
            <a:off x="7680960" y="32004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Agenda</a:t>
            </a:r>
            <a:endParaRPr lang="en-US" sz="3600" dirty="0"/>
          </a:p>
        </p:txBody>
      </p:sp>
      <p:sp>
        <p:nvSpPr>
          <p:cNvPr id="3" name="Agenda number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234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Deployment overview</a:t>
            </a:r>
            <a:endParaRPr lang="en-US" sz="2000" dirty="0"/>
          </a:p>
        </p:txBody>
      </p:sp>
      <p:sp>
        <p:nvSpPr>
          <p:cNvPr id="6" name="Agenda number 2"/>
          <p:cNvSpPr/>
          <p:nvPr/>
        </p:nvSpPr>
        <p:spPr>
          <a:xfrm>
            <a:off x="548640" y="180136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013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Tech stack</a:t>
            </a:r>
            <a:endParaRPr lang="en-US" sz="2000" dirty="0"/>
          </a:p>
        </p:txBody>
      </p:sp>
      <p:sp>
        <p:nvSpPr>
          <p:cNvPr id="9" name="Agenda number 3"/>
          <p:cNvSpPr/>
          <p:nvPr/>
        </p:nvSpPr>
        <p:spPr>
          <a:xfrm>
            <a:off x="548640" y="236829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368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36829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Architecture</a:t>
            </a:r>
            <a:endParaRPr lang="en-US" sz="2000" dirty="0"/>
          </a:p>
        </p:txBody>
      </p:sp>
      <p:sp>
        <p:nvSpPr>
          <p:cNvPr id="12" name="Agenda number 4"/>
          <p:cNvSpPr/>
          <p:nvPr/>
        </p:nvSpPr>
        <p:spPr>
          <a:xfrm>
            <a:off x="548640" y="2935224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93522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Configuration</a:t>
            </a:r>
            <a:endParaRPr lang="en-US" sz="2000" dirty="0"/>
          </a:p>
        </p:txBody>
      </p:sp>
      <p:sp>
        <p:nvSpPr>
          <p:cNvPr id="15" name="Agenda number 5"/>
          <p:cNvSpPr/>
          <p:nvPr/>
        </p:nvSpPr>
        <p:spPr>
          <a:xfrm>
            <a:off x="548640" y="35021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502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Verification</a:t>
            </a:r>
            <a:endParaRPr lang="en-US" sz="2000" dirty="0"/>
          </a:p>
        </p:txBody>
      </p:sp>
      <p:sp>
        <p:nvSpPr>
          <p:cNvPr id="18" name="Agenda number 6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069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Monitoring and next steps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Deployment at a glance</a:t>
            </a:r>
            <a:endParaRPr lang="en-US" sz="3600" dirty="0"/>
          </a:p>
        </p:txBody>
      </p:sp>
      <p:sp>
        <p:nvSpPr>
          <p:cNvPr id="3" name="Stat card 1"/>
          <p:cNvSpPr/>
          <p:nvPr/>
        </p:nvSpPr>
        <p:spPr>
          <a:xfrm>
            <a:off x="457200" y="1463040"/>
            <a:ext cx="1920240" cy="25603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7830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2/2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880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Pods ready</a:t>
            </a:r>
            <a:endParaRPr lang="en-US" sz="1600" dirty="0"/>
          </a:p>
        </p:txBody>
      </p:sp>
      <p:sp>
        <p:nvSpPr>
          <p:cNvPr id="6" name="Stat card 2"/>
          <p:cNvSpPr/>
          <p:nvPr/>
        </p:nvSpPr>
        <p:spPr>
          <a:xfrm>
            <a:off x="2560320" y="1463040"/>
            <a:ext cx="1920240" cy="25603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7830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1/1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880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DB migration job complete</a:t>
            </a:r>
            <a:endParaRPr lang="en-US" sz="1600" dirty="0"/>
          </a:p>
        </p:txBody>
      </p:sp>
      <p:sp>
        <p:nvSpPr>
          <p:cNvPr id="9" name="Stat card 3"/>
          <p:cNvSpPr/>
          <p:nvPr/>
        </p:nvSpPr>
        <p:spPr>
          <a:xfrm>
            <a:off x="4663440" y="1463040"/>
            <a:ext cx="1920240" cy="25603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7830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880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Prometheus scrape availability</a:t>
            </a:r>
            <a:endParaRPr lang="en-US" sz="1600" dirty="0"/>
          </a:p>
        </p:txBody>
      </p:sp>
      <p:sp>
        <p:nvSpPr>
          <p:cNvPr id="12" name="Stat card 4"/>
          <p:cNvSpPr/>
          <p:nvPr/>
        </p:nvSpPr>
        <p:spPr>
          <a:xfrm>
            <a:off x="6766560" y="1463040"/>
            <a:ext cx="1920240" cy="25603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7830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8000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880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Service port (ClusterIP)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Tech stack</a:t>
            </a:r>
            <a:endParaRPr lang="en-US" sz="3600" dirty="0"/>
          </a:p>
        </p:txBody>
      </p:sp>
      <p:sp>
        <p:nvSpPr>
          <p:cNvPr id="3" name="Tech card 1"/>
          <p:cNvSpPr/>
          <p:nvPr/>
        </p:nvSpPr>
        <p:spPr>
          <a:xfrm>
            <a:off x="457200" y="128016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Backend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API served by Uvicorn</a:t>
            </a:r>
            <a:endParaRPr lang="en-US" sz="1400" dirty="0"/>
          </a:p>
        </p:txBody>
      </p:sp>
      <p:sp>
        <p:nvSpPr>
          <p:cNvPr id="7" name="Tech card 2"/>
          <p:cNvSpPr/>
          <p:nvPr/>
        </p:nvSpPr>
        <p:spPr>
          <a:xfrm>
            <a:off x="3246120" y="128016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Containers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Image herdoc-backend:latest</a:t>
            </a:r>
            <a:endParaRPr lang="en-US" sz="1400" dirty="0"/>
          </a:p>
        </p:txBody>
      </p:sp>
      <p:sp>
        <p:nvSpPr>
          <p:cNvPr id="11" name="Tech card 3"/>
          <p:cNvSpPr/>
          <p:nvPr/>
        </p:nvSpPr>
        <p:spPr>
          <a:xfrm>
            <a:off x="6035040" y="128016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Orchestration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Deployment, Service and migration Job</a:t>
            </a:r>
            <a:endParaRPr lang="en-US" sz="1400" dirty="0"/>
          </a:p>
        </p:txBody>
      </p:sp>
      <p:sp>
        <p:nvSpPr>
          <p:cNvPr id="15" name="Tech card 4"/>
          <p:cNvSpPr/>
          <p:nvPr/>
        </p:nvSpPr>
        <p:spPr>
          <a:xfrm>
            <a:off x="457200" y="306324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Automation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Ansible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023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Automation tooling</a:t>
            </a:r>
            <a:endParaRPr lang="en-US" sz="1400" dirty="0"/>
          </a:p>
        </p:txBody>
      </p:sp>
      <p:sp>
        <p:nvSpPr>
          <p:cNvPr id="19" name="Tech card 5"/>
          <p:cNvSpPr/>
          <p:nvPr/>
        </p:nvSpPr>
        <p:spPr>
          <a:xfrm>
            <a:off x="3246120" y="306324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7472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Metrics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4023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Scrapes /metrics from the backend</a:t>
            </a:r>
            <a:endParaRPr lang="en-US" sz="1400" dirty="0"/>
          </a:p>
        </p:txBody>
      </p:sp>
      <p:sp>
        <p:nvSpPr>
          <p:cNvPr id="23" name="Tech card 6"/>
          <p:cNvSpPr/>
          <p:nvPr/>
        </p:nvSpPr>
        <p:spPr>
          <a:xfrm>
            <a:off x="6035040" y="306324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6364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Dashboards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Grafana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4023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HERDOC API Overview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Ansible: key concepts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Open-source automation tool for configuration management and deployment</a:t>
            </a:r>
            <a:endParaRPr lang="en-US" sz="1600" dirty="0"/>
          </a:p>
        </p:txBody>
      </p:sp>
      <p:sp>
        <p:nvSpPr>
          <p:cNvPr id="4" name="Concept card 1"/>
          <p:cNvSpPr/>
          <p:nvPr/>
        </p:nvSpPr>
        <p:spPr>
          <a:xfrm>
            <a:off x="457200" y="164592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Agentless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Connects over SSH; nothing to install on targets</a:t>
            </a:r>
            <a:endParaRPr lang="en-US" sz="1400" dirty="0"/>
          </a:p>
        </p:txBody>
      </p:sp>
      <p:sp>
        <p:nvSpPr>
          <p:cNvPr id="7" name="Concept card 2"/>
          <p:cNvSpPr/>
          <p:nvPr/>
        </p:nvSpPr>
        <p:spPr>
          <a:xfrm>
            <a:off x="3246120" y="164592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Playbooks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3317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YAML files describing the steps to run</a:t>
            </a:r>
            <a:endParaRPr lang="en-US" sz="1400" dirty="0"/>
          </a:p>
        </p:txBody>
      </p:sp>
      <p:sp>
        <p:nvSpPr>
          <p:cNvPr id="10" name="Concept card 3"/>
          <p:cNvSpPr/>
          <p:nvPr/>
        </p:nvSpPr>
        <p:spPr>
          <a:xfrm>
            <a:off x="6035040" y="164592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3317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 of hosts and groups to manage</a:t>
            </a:r>
            <a:endParaRPr lang="en-US" sz="1400" dirty="0"/>
          </a:p>
        </p:txBody>
      </p:sp>
      <p:sp>
        <p:nvSpPr>
          <p:cNvPr id="13" name="Concept card 4"/>
          <p:cNvSpPr/>
          <p:nvPr/>
        </p:nvSpPr>
        <p:spPr>
          <a:xfrm>
            <a:off x="457200" y="320040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886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Units of work, such as installing a package</a:t>
            </a:r>
            <a:endParaRPr lang="en-US" sz="1400" dirty="0"/>
          </a:p>
        </p:txBody>
      </p:sp>
      <p:sp>
        <p:nvSpPr>
          <p:cNvPr id="16" name="Concept card 5"/>
          <p:cNvSpPr/>
          <p:nvPr/>
        </p:nvSpPr>
        <p:spPr>
          <a:xfrm>
            <a:off x="3246120" y="320040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Idempotent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886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Re-running changes nothing if already correct</a:t>
            </a:r>
            <a:endParaRPr lang="en-US" sz="1400" dirty="0"/>
          </a:p>
        </p:txBody>
      </p:sp>
      <p:sp>
        <p:nvSpPr>
          <p:cNvPr id="19" name="Concept card 6"/>
          <p:cNvSpPr/>
          <p:nvPr/>
        </p:nvSpPr>
        <p:spPr>
          <a:xfrm>
            <a:off x="6035040" y="320040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886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Reusable bundles of tasks and variables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How the pieces connect</a:t>
            </a:r>
            <a:endParaRPr lang="en-US" sz="3600" dirty="0"/>
          </a:p>
        </p:txBody>
      </p:sp>
      <p:sp>
        <p:nvSpPr>
          <p:cNvPr id="3" name="Flow box 1"/>
          <p:cNvSpPr/>
          <p:nvPr/>
        </p:nvSpPr>
        <p:spPr>
          <a:xfrm>
            <a:off x="457200" y="1737360"/>
            <a:ext cx="137160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DB migrate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Job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3108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Complete, 10s</a:t>
            </a:r>
            <a:endParaRPr lang="en-US" sz="1400" dirty="0"/>
          </a:p>
        </p:txBody>
      </p:sp>
      <p:sp>
        <p:nvSpPr>
          <p:cNvPr id="7" name="Arrow 1"/>
          <p:cNvSpPr/>
          <p:nvPr/>
        </p:nvSpPr>
        <p:spPr>
          <a:xfrm>
            <a:off x="1874520" y="2194560"/>
            <a:ext cx="228600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Flow box 2"/>
          <p:cNvSpPr/>
          <p:nvPr/>
        </p:nvSpPr>
        <p:spPr>
          <a:xfrm>
            <a:off x="2148840" y="1737360"/>
            <a:ext cx="137160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4884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Backend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Deployment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3108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 replicas</a:t>
            </a:r>
            <a:endParaRPr lang="en-US" sz="1400" dirty="0"/>
          </a:p>
        </p:txBody>
      </p:sp>
      <p:sp>
        <p:nvSpPr>
          <p:cNvPr id="12" name="Arrow 2"/>
          <p:cNvSpPr/>
          <p:nvPr/>
        </p:nvSpPr>
        <p:spPr>
          <a:xfrm>
            <a:off x="3566160" y="2194560"/>
            <a:ext cx="228600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Flow box 3"/>
          <p:cNvSpPr/>
          <p:nvPr/>
        </p:nvSpPr>
        <p:spPr>
          <a:xfrm>
            <a:off x="3840480" y="1737360"/>
            <a:ext cx="137160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4048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Service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ClusterIP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3108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10.96.3.18:8000</a:t>
            </a:r>
            <a:endParaRPr lang="en-US" sz="1400" dirty="0"/>
          </a:p>
        </p:txBody>
      </p:sp>
      <p:sp>
        <p:nvSpPr>
          <p:cNvPr id="17" name="Arrow 3"/>
          <p:cNvSpPr/>
          <p:nvPr/>
        </p:nvSpPr>
        <p:spPr>
          <a:xfrm>
            <a:off x="5257800" y="2194560"/>
            <a:ext cx="228600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Flow box 4"/>
          <p:cNvSpPr/>
          <p:nvPr/>
        </p:nvSpPr>
        <p:spPr>
          <a:xfrm>
            <a:off x="5532120" y="1737360"/>
            <a:ext cx="137160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3212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Prometheus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Metrics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3108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job herdoc-backend</a:t>
            </a:r>
            <a:endParaRPr lang="en-US" sz="1400" dirty="0"/>
          </a:p>
        </p:txBody>
      </p:sp>
      <p:sp>
        <p:nvSpPr>
          <p:cNvPr id="22" name="Arrow 4"/>
          <p:cNvSpPr/>
          <p:nvPr/>
        </p:nvSpPr>
        <p:spPr>
          <a:xfrm>
            <a:off x="6949440" y="2194560"/>
            <a:ext cx="228600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Flow box 5"/>
          <p:cNvSpPr/>
          <p:nvPr/>
        </p:nvSpPr>
        <p:spPr>
          <a:xfrm>
            <a:off x="7223760" y="1737360"/>
            <a:ext cx="137160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2376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Grafana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Dashboard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108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HERDOC API Overview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Deployment configuration</a:t>
            </a:r>
            <a:endParaRPr lang="en-US" sz="3600" dirty="0"/>
          </a:p>
        </p:txBody>
      </p:sp>
      <p:sp>
        <p:nvSpPr>
          <p:cNvPr id="3" name="Config card 1"/>
          <p:cNvSpPr/>
          <p:nvPr/>
        </p:nvSpPr>
        <p:spPr>
          <a:xfrm>
            <a:off x="457200" y="1280160"/>
            <a:ext cx="40233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Rollout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RollingUpdate strategy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0 max unavailable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 max surge</a:t>
            </a:r>
            <a:endParaRPr lang="en-US" sz="1400" dirty="0"/>
          </a:p>
        </p:txBody>
      </p:sp>
      <p:sp>
        <p:nvSpPr>
          <p:cNvPr id="6" name="Config card 2"/>
          <p:cNvSpPr/>
          <p:nvPr/>
        </p:nvSpPr>
        <p:spPr>
          <a:xfrm>
            <a:off x="4663440" y="1280160"/>
            <a:ext cx="40233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288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Requests: 100m CPU, 256Mi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Limits: 1 CPU, 1Gi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Image: herdoc-backend:latest</a:t>
            </a:r>
            <a:endParaRPr lang="en-US" sz="1400" dirty="0"/>
          </a:p>
        </p:txBody>
      </p:sp>
      <p:sp>
        <p:nvSpPr>
          <p:cNvPr id="9" name="Config card 3"/>
          <p:cNvSpPr/>
          <p:nvPr/>
        </p:nvSpPr>
        <p:spPr>
          <a:xfrm>
            <a:off x="457200" y="3063240"/>
            <a:ext cx="40233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200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Liveness and readiness on /health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Liveness: 15s delay, 20s period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Readiness: 5s delay, 10s period</a:t>
            </a:r>
            <a:endParaRPr lang="en-US" sz="1400" dirty="0"/>
          </a:p>
        </p:txBody>
      </p:sp>
      <p:sp>
        <p:nvSpPr>
          <p:cNvPr id="12" name="Config card 4"/>
          <p:cNvSpPr/>
          <p:nvPr/>
        </p:nvSpPr>
        <p:spPr>
          <a:xfrm>
            <a:off x="4663440" y="3063240"/>
            <a:ext cx="40233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200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6118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ConfigMap: herdoc-backend-config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Secret: herdoc-backend-secrets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Both loaded via envFrom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Health and metrics endpoints</a:t>
            </a:r>
            <a:endParaRPr lang="en-US" sz="3600" dirty="0"/>
          </a:p>
        </p:txBody>
      </p:sp>
      <p:sp>
        <p:nvSpPr>
          <p:cNvPr id="3" name="Endpoint card 1"/>
          <p:cNvSpPr/>
          <p:nvPr/>
        </p:nvSpPr>
        <p:spPr>
          <a:xfrm>
            <a:off x="457200" y="1280160"/>
            <a:ext cx="402336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463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/health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Returns {"status":"ok"}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Content-Type: application/json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Used by liveness and readiness probes</a:t>
            </a:r>
            <a:endParaRPr lang="en-US" sz="1400" dirty="0"/>
          </a:p>
        </p:txBody>
      </p:sp>
      <p:sp>
        <p:nvSpPr>
          <p:cNvPr id="7" name="Endpoint card 2"/>
          <p:cNvSpPr/>
          <p:nvPr/>
        </p:nvSpPr>
        <p:spPr>
          <a:xfrm>
            <a:off x="4663440" y="1280160"/>
            <a:ext cx="402336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463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463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/metrics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4231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Prometheus text format, 4351 bytes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Content-Type: text/plain; version=0.0.4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Scraped by Prometheus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Checked locally on port 8001; both return 200 OK from uvicorn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Resources verified</a:t>
            </a:r>
            <a:endParaRPr lang="en-US" sz="3600" dirty="0"/>
          </a:p>
        </p:txBody>
      </p:sp>
      <p:pic>
        <p:nvPicPr>
          <p:cNvPr id="3" name="kubectl screenshot" descr="kubectl output for endpoints, configmap, secret and migration jo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22494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pod IPs on port 8000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324612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ConfigMap and Secret present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Job complete, 1/1 in 10s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Grafana dashboard</a:t>
            </a:r>
            <a:endParaRPr lang="en-US" sz="3600" dirty="0"/>
          </a:p>
        </p:txBody>
      </p:sp>
      <p:pic>
        <p:nvPicPr>
          <p:cNvPr id="3" name="Grafana screenshot" descr="HERDOC API Overview dashboard showing 100% availabil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120640" cy="24683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852160" y="13716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Availability panel reads 100%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Latency and error rate panels have no data yet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/health and /metrics both return 200 OK locally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Open item: no request data</a:t>
            </a:r>
            <a:endParaRPr lang="en-US" sz="3600" dirty="0"/>
          </a:p>
        </p:txBody>
      </p:sp>
      <p:pic>
        <p:nvPicPr>
          <p:cNvPr id="3" name="Prometheus Explore screenshot" descr="Prometheus Explore query returning No da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120640" cy="215351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85216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852160" y="18288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Send requests to the API and refresh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Check the duration metric appears at /metrics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Confirm panel queries use job herdoc-backend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Status summary</a:t>
            </a:r>
            <a:endParaRPr lang="en-US" sz="3600" dirty="0"/>
          </a:p>
        </p:txBody>
      </p:sp>
      <p:sp>
        <p:nvSpPr>
          <p:cNvPr id="3" name="Status row 1"/>
          <p:cNvSpPr/>
          <p:nvPr/>
        </p:nvSpPr>
        <p:spPr>
          <a:xfrm>
            <a:off x="457200" y="1280160"/>
            <a:ext cx="822960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us dot 1"/>
          <p:cNvSpPr/>
          <p:nvPr/>
        </p:nvSpPr>
        <p:spPr>
          <a:xfrm>
            <a:off x="685800" y="1435608"/>
            <a:ext cx="219456" cy="21945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28016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Backend deployment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28016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2/2 pods available</a:t>
            </a:r>
            <a:endParaRPr lang="en-US" sz="1600" dirty="0"/>
          </a:p>
        </p:txBody>
      </p:sp>
      <p:sp>
        <p:nvSpPr>
          <p:cNvPr id="7" name="Status row 2"/>
          <p:cNvSpPr/>
          <p:nvPr/>
        </p:nvSpPr>
        <p:spPr>
          <a:xfrm>
            <a:off x="457200" y="1920240"/>
            <a:ext cx="822960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us dot 2"/>
          <p:cNvSpPr/>
          <p:nvPr/>
        </p:nvSpPr>
        <p:spPr>
          <a:xfrm>
            <a:off x="685800" y="2075688"/>
            <a:ext cx="219456" cy="21945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192024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DB migration job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92024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Complete in 10s</a:t>
            </a:r>
            <a:endParaRPr lang="en-US" sz="1600" dirty="0"/>
          </a:p>
        </p:txBody>
      </p:sp>
      <p:sp>
        <p:nvSpPr>
          <p:cNvPr id="11" name="Status row 3"/>
          <p:cNvSpPr/>
          <p:nvPr/>
        </p:nvSpPr>
        <p:spPr>
          <a:xfrm>
            <a:off x="457200" y="2560320"/>
            <a:ext cx="822960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atus dot 3"/>
          <p:cNvSpPr/>
          <p:nvPr/>
        </p:nvSpPr>
        <p:spPr>
          <a:xfrm>
            <a:off x="685800" y="2715768"/>
            <a:ext cx="219456" cy="21945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25603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Health endpoint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5603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200 OK</a:t>
            </a:r>
            <a:endParaRPr lang="en-US" sz="1600" dirty="0"/>
          </a:p>
        </p:txBody>
      </p:sp>
      <p:sp>
        <p:nvSpPr>
          <p:cNvPr id="15" name="Status row 4"/>
          <p:cNvSpPr/>
          <p:nvPr/>
        </p:nvSpPr>
        <p:spPr>
          <a:xfrm>
            <a:off x="457200" y="3200400"/>
            <a:ext cx="822960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atus dot 4"/>
          <p:cNvSpPr/>
          <p:nvPr/>
        </p:nvSpPr>
        <p:spPr>
          <a:xfrm>
            <a:off x="685800" y="3355848"/>
            <a:ext cx="219456" cy="21945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320040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Prometheus scrape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20040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100% up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rDoc">
  <a:themeElements>
    <a:clrScheme name="HerDoc">
      <a:dk1>
        <a:srgbClr val="0F172A"/>
      </a:dk1>
      <a:lt1>
        <a:srgbClr val="FFFFFF"/>
      </a:lt1>
      <a:dk2>
        <a:srgbClr val="334155"/>
      </a:dk2>
      <a:lt2>
        <a:srgbClr val="F1F5F9"/>
      </a:lt2>
      <a:accent1>
        <a:srgbClr val="F46800"/>
      </a:accent1>
      <a:accent2>
        <a:srgbClr val="0EA5E9"/>
      </a:accent2>
      <a:accent3>
        <a:srgbClr val="22C55E"/>
      </a:accent3>
      <a:accent4>
        <a:srgbClr val="64748B"/>
      </a:accent4>
      <a:accent5>
        <a:srgbClr val="EAB308"/>
      </a:accent5>
      <a:accent6>
        <a:srgbClr val="EF4444"/>
      </a:accent6>
      <a:hlink>
        <a:srgbClr val="0EA5E9"/>
      </a:hlink>
      <a:folHlink>
        <a:srgbClr val="64748B"/>
      </a:folHlink>
    </a:clrScheme>
    <a:fontScheme name="HerDo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2026-10-05T07:45:32Z</dcterms:created>
  <dcterms:modified xsi:type="dcterms:W3CDTF">2026-10-05T07:45:32Z</dcterms:modified>
</cp:coreProperties>
</file>